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739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Greedy Heuristic: Mean Running Time vs Input Size 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Running Time (s)</c:v>
                </c:pt>
              </c:strCache>
            </c:strRef>
          </c:tx>
          <c:spPr>
            <a:ln w="38100" cap="flat">
              <a:solidFill>
                <a:srgbClr val="00C9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800</c:v>
                </c:pt>
                <c:pt idx="5">
                  <c:v>1600</c:v>
                </c:pt>
                <c:pt idx="6">
                  <c:v>3200</c:v>
                </c:pt>
                <c:pt idx="7">
                  <c:v>6400</c:v>
                </c:pt>
                <c:pt idx="8">
                  <c:v>10000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1.1029999999999999E-5</c:v>
                </c:pt>
                <c:pt idx="1">
                  <c:v>3.0920000000000002E-5</c:v>
                </c:pt>
                <c:pt idx="2">
                  <c:v>5.8619999999999998E-5</c:v>
                </c:pt>
                <c:pt idx="3">
                  <c:v>1.5374E-4</c:v>
                </c:pt>
                <c:pt idx="4">
                  <c:v>3.5591000000000003E-4</c:v>
                </c:pt>
                <c:pt idx="5">
                  <c:v>8.0013999999999997E-4</c:v>
                </c:pt>
                <c:pt idx="6">
                  <c:v>1.35071E-3</c:v>
                </c:pt>
                <c:pt idx="7">
                  <c:v>3.7889400000000002E-3</c:v>
                </c:pt>
                <c:pt idx="8">
                  <c:v>5.7628899999999997E-3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3F3-7949-B98D-6AA95F06B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J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J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Mean Quality Ratio (Greedy / Optimal) — closer to 1.0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Quality Ratio</c:v>
                </c:pt>
              </c:strCache>
            </c:strRef>
          </c:tx>
          <c:spPr>
            <a:solidFill>
              <a:srgbClr val="845EC2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n=5</c:v>
                </c:pt>
                <c:pt idx="1">
                  <c:v>n=6</c:v>
                </c:pt>
                <c:pt idx="2">
                  <c:v>n=7</c:v>
                </c:pt>
                <c:pt idx="3">
                  <c:v>n=8</c:v>
                </c:pt>
                <c:pt idx="4">
                  <c:v>n=9</c:v>
                </c:pt>
                <c:pt idx="5">
                  <c:v>n=10</c:v>
                </c:pt>
                <c:pt idx="6">
                  <c:v>n=11</c:v>
                </c:pt>
                <c:pt idx="7">
                  <c:v>n=12</c:v>
                </c:pt>
                <c:pt idx="8">
                  <c:v>n=13</c:v>
                </c:pt>
                <c:pt idx="9">
                  <c:v>n=14</c:v>
                </c:pt>
                <c:pt idx="10">
                  <c:v>n=15</c:v>
                </c:pt>
                <c:pt idx="11">
                  <c:v>n=16</c:v>
                </c:pt>
                <c:pt idx="12">
                  <c:v>n=17</c:v>
                </c:pt>
                <c:pt idx="13">
                  <c:v>n=18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0.97919999999999996</c:v>
                </c:pt>
                <c:pt idx="1">
                  <c:v>0.96819999999999995</c:v>
                </c:pt>
                <c:pt idx="2">
                  <c:v>0.97430000000000005</c:v>
                </c:pt>
                <c:pt idx="3">
                  <c:v>0.97660000000000002</c:v>
                </c:pt>
                <c:pt idx="4">
                  <c:v>0.97430000000000005</c:v>
                </c:pt>
                <c:pt idx="5">
                  <c:v>0.98340000000000005</c:v>
                </c:pt>
                <c:pt idx="6">
                  <c:v>0.98080000000000001</c:v>
                </c:pt>
                <c:pt idx="7">
                  <c:v>0.98970000000000002</c:v>
                </c:pt>
                <c:pt idx="8">
                  <c:v>0.98950000000000005</c:v>
                </c:pt>
                <c:pt idx="9">
                  <c:v>0.99280000000000002</c:v>
                </c:pt>
                <c:pt idx="10">
                  <c:v>0.99260000000000004</c:v>
                </c:pt>
                <c:pt idx="11">
                  <c:v>0.99529999999999996</c:v>
                </c:pt>
                <c:pt idx="12">
                  <c:v>0.99429999999999996</c:v>
                </c:pt>
                <c:pt idx="13">
                  <c:v>0.99690000000000001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87-754F-AE22-F6E6C6390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J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4"/>
        </c:scaling>
        <c:delete val="0"/>
        <c:axPos val="l"/>
        <c:majorGridlines>
          <c:spPr>
            <a:ln w="6350" cap="flat">
              <a:solidFill>
                <a:srgbClr val="2A3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J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D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Operations Count: Brute Force vs Greedy (log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Brute Force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n=5</c:v>
                </c:pt>
                <c:pt idx="1">
                  <c:v>n=10</c:v>
                </c:pt>
                <c:pt idx="2">
                  <c:v>n=15</c:v>
                </c:pt>
                <c:pt idx="3">
                  <c:v>n=20</c:v>
                </c:pt>
                <c:pt idx="4">
                  <c:v>n=25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6-FE41-9A6A-8D7B92FA64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n=5</c:v>
                </c:pt>
                <c:pt idx="1">
                  <c:v>n=10</c:v>
                </c:pt>
                <c:pt idx="2">
                  <c:v>n=15</c:v>
                </c:pt>
                <c:pt idx="3">
                  <c:v>n=20</c:v>
                </c:pt>
                <c:pt idx="4">
                  <c:v>n=25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33</c:v>
                </c:pt>
                <c:pt idx="2">
                  <c:v>59</c:v>
                </c:pt>
                <c:pt idx="3">
                  <c:v>86</c:v>
                </c:pt>
                <c:pt idx="4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6-FE41-9A6A-8D7B92FA64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J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2A3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J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0C4DE"/>
              </a:solidFill>
            </a:defRPr>
          </a:pPr>
          <a:endParaRPr lang="en-JO"/>
        </a:p>
      </c:txPr>
    </c:legend>
    <c:plotVisOnly val="1"/>
    <c:dispBlanksAs val="span"/>
    <c:showDLblsOverMax val="1"/>
  </c:chart>
  <c:spPr>
    <a:solidFill>
      <a:srgbClr val="1E2D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03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line">
            <a:avLst/>
          </a:prstGeom>
          <a:solidFill>
            <a:srgbClr val="845EC2">
              <a:alpha val="15000"/>
            </a:srgbClr>
          </a:solidFill>
          <a:ln w="12700">
            <a:solidFill>
              <a:srgbClr val="845EC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lin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Sum Problem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Analysis &amp; Experimental Results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114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26  ·  Spring 2025–2026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Momin Alam  –  33622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 Al Homsi  –  34565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Mo Khaled  –  35003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2" name="Text 10"/>
          <p:cNvSpPr/>
          <p:nvPr/>
        </p:nvSpPr>
        <p:spPr>
          <a:xfrm>
            <a:off x="63093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S′ ⊆ S 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aᵢ = 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aᵢ ∈ S′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 Problem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81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Optimization versions, NP-Completeness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54864" cy="11430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1" name="Text 9"/>
          <p:cNvSpPr/>
          <p:nvPr/>
        </p:nvSpPr>
        <p:spPr>
          <a:xfrm>
            <a:off x="4937760" y="11247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581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(exact) vs. Greedy Heuristic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6" name="Text 14"/>
          <p:cNvSpPr/>
          <p:nvPr/>
        </p:nvSpPr>
        <p:spPr>
          <a:xfrm>
            <a:off x="594360" y="2404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Time &amp; Space Complexity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02336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54864" cy="1143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1" name="Text 19"/>
          <p:cNvSpPr/>
          <p:nvPr/>
        </p:nvSpPr>
        <p:spPr>
          <a:xfrm>
            <a:off x="4937760" y="2404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log n) verified experimentally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02336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54864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6" name="Text 24"/>
          <p:cNvSpPr/>
          <p:nvPr/>
        </p:nvSpPr>
        <p:spPr>
          <a:xfrm>
            <a:off x="59436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3703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142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vs. Optimal — how close?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02336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30" name="Shape 28"/>
          <p:cNvSpPr/>
          <p:nvPr/>
        </p:nvSpPr>
        <p:spPr>
          <a:xfrm>
            <a:off x="4800600" y="3611880"/>
            <a:ext cx="54864" cy="11430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1" name="Text 29"/>
          <p:cNvSpPr/>
          <p:nvPr/>
        </p:nvSpPr>
        <p:spPr>
          <a:xfrm>
            <a:off x="493776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3703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4142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Black-box, White-box, Edge cases</a:t>
            </a:r>
            <a:endParaRPr lang="en-US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FA5C-A91E-17E9-6CD4-76CD8DD245B5}"/>
              </a:ext>
            </a:extLst>
          </p:cNvPr>
          <p:cNvSpPr txBox="1"/>
          <p:nvPr/>
        </p:nvSpPr>
        <p:spPr>
          <a:xfrm>
            <a:off x="2154621" y="60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What is the Subset Sum Problem?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303520" cy="13716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4864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finite set S = {a₁, a₂, …, aₙ} of positive integers and a target T, does a subset exist whose elements sum exactly to 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06040" cy="24231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{3, 5, 7, 10}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{5, 10} → 5+10=15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331720"/>
            <a:ext cx="2606040" cy="24231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4" name="Text 12"/>
          <p:cNvSpPr/>
          <p:nvPr/>
        </p:nvSpPr>
        <p:spPr>
          <a:xfrm>
            <a:off x="338328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{2, 6, 8, 13}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subset sums to 11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822960"/>
            <a:ext cx="2834640" cy="393192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9" name="Shape 17"/>
          <p:cNvSpPr/>
          <p:nvPr/>
        </p:nvSpPr>
        <p:spPr>
          <a:xfrm>
            <a:off x="5943600" y="822960"/>
            <a:ext cx="54864" cy="39319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0" name="Text 18"/>
          <p:cNvSpPr/>
          <p:nvPr/>
        </p:nvSpPr>
        <p:spPr>
          <a:xfrm>
            <a:off x="6126480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Real-World Applications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Budget allocation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Container packing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Cryptography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Investment selection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Decision vs. Optimization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2286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Version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 answer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∃ S′ ⊆ S s.t. Σaᵢ = T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S={2,4,6,9}, T=10 → YES ({4,6})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54864" cy="22860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1" name="Text 9"/>
          <p:cNvSpPr/>
          <p:nvPr/>
        </p:nvSpPr>
        <p:spPr>
          <a:xfrm>
            <a:off x="484632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Version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subset sum ≤ 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S′ s.t. Σaᵢ is max ≤ 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S={6,9,13}, T=20 → {6,13}=19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8412480" cy="16002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54864" cy="1600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is Subset Sum Hard?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767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 (decision) · NP-Hard (optimization)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elements → 2ⁿ possible subsets. At n=30 that's over 1 billion combinations to check!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Brute Force Algorithm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474720" cy="393192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3931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274320" cy="274320"/>
          </a:xfrm>
          <a:prstGeom prst="lin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081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every possible subset of 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274320" cy="274320"/>
          </a:xfrm>
          <a:prstGeom prst="lin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0" name="Text 8"/>
          <p:cNvSpPr/>
          <p:nvPr/>
        </p:nvSpPr>
        <p:spPr>
          <a:xfrm>
            <a:off x="566928" y="213055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sum of each subset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274320" cy="274320"/>
          </a:xfrm>
          <a:prstGeom prst="lin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3" name="Text 11"/>
          <p:cNvSpPr/>
          <p:nvPr/>
        </p:nvSpPr>
        <p:spPr>
          <a:xfrm>
            <a:off x="566928" y="28437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subset with the largest sum ≤ 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584448"/>
            <a:ext cx="274320" cy="274320"/>
          </a:xfrm>
          <a:prstGeom prst="lin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6" name="Text 14"/>
          <p:cNvSpPr/>
          <p:nvPr/>
        </p:nvSpPr>
        <p:spPr>
          <a:xfrm>
            <a:off x="566928" y="35570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547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best subset found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822960"/>
            <a:ext cx="4754880" cy="393192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9" name="Shape 17"/>
          <p:cNvSpPr/>
          <p:nvPr/>
        </p:nvSpPr>
        <p:spPr>
          <a:xfrm>
            <a:off x="4023360" y="822960"/>
            <a:ext cx="54864" cy="3931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0" name="Text 18"/>
          <p:cNvSpPr/>
          <p:nvPr/>
        </p:nvSpPr>
        <p:spPr>
          <a:xfrm>
            <a:off x="4206240" y="914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141732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best_subset ← ∅,  best_sum ← 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subset X of 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cur ← sum(X)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cur ≤ T and cur &gt; best_sum: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best_subset ←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best_sum ← cur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best_sum = T → answer = YES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         → answer = NO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best_subset, best_sum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Greedy Heuristic Algorithm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30352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22860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{8, 6, 9, 5}  →  Sort desc: {9, 8, 6, 5}    T = 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773936"/>
            <a:ext cx="1097280" cy="36576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≤ 14 → ADD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56232" y="1773936"/>
            <a:ext cx="1097280" cy="36576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1" name="Text 9"/>
          <p:cNvSpPr/>
          <p:nvPr/>
        </p:nvSpPr>
        <p:spPr>
          <a:xfrm>
            <a:off x="1856232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10512" y="21762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9+8=17 &gt; 14 → SKIP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18104" y="1773936"/>
            <a:ext cx="1097280" cy="36576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4" name="Text 12"/>
          <p:cNvSpPr/>
          <p:nvPr/>
        </p:nvSpPr>
        <p:spPr>
          <a:xfrm>
            <a:off x="3118104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72384" y="21762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9+6=15 &gt; 14 → SKIP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9976" y="1773936"/>
            <a:ext cx="1097280" cy="36576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7" name="Text 15"/>
          <p:cNvSpPr/>
          <p:nvPr/>
        </p:nvSpPr>
        <p:spPr>
          <a:xfrm>
            <a:off x="4379976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34256" y="21762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9+5=14 ≤ 14 → ADD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303520" cy="16002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54864" cy="1600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S descending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sorted_S: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current_sum + x ≤ T:  add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else: skip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selected_subset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822960"/>
            <a:ext cx="292608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4" name="Shape 22"/>
          <p:cNvSpPr/>
          <p:nvPr/>
        </p:nvSpPr>
        <p:spPr>
          <a:xfrm>
            <a:off x="5852160" y="822960"/>
            <a:ext cx="54864" cy="402336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5" name="Text 23"/>
          <p:cNvSpPr/>
          <p:nvPr/>
        </p:nvSpPr>
        <p:spPr>
          <a:xfrm>
            <a:off x="603504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(locally optimal)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log 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Algorithm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7" name="Text 5"/>
          <p:cNvSpPr/>
          <p:nvPr/>
        </p:nvSpPr>
        <p:spPr>
          <a:xfrm>
            <a:off x="68580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· 2ⁿ)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962656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always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6" name="Text 14"/>
          <p:cNvSpPr/>
          <p:nvPr/>
        </p:nvSpPr>
        <p:spPr>
          <a:xfrm>
            <a:off x="68580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2ⁿ subsets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822960"/>
            <a:ext cx="411480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4114800" cy="502920"/>
          </a:xfrm>
          <a:prstGeom prst="rect">
            <a:avLst/>
          </a:prstGeom>
          <a:solidFill>
            <a:srgbClr val="845EC2">
              <a:alpha val="85000"/>
            </a:srgbClr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0" name="Text 18"/>
          <p:cNvSpPr/>
          <p:nvPr/>
        </p:nvSpPr>
        <p:spPr>
          <a:xfrm>
            <a:off x="4983480" y="841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463040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2" name="Text 20"/>
          <p:cNvSpPr/>
          <p:nvPr/>
        </p:nvSpPr>
        <p:spPr>
          <a:xfrm>
            <a:off x="507492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log 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2212848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5" name="Text 23"/>
          <p:cNvSpPr/>
          <p:nvPr/>
        </p:nvSpPr>
        <p:spPr>
          <a:xfrm>
            <a:off x="507492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2962656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8" name="Text 26"/>
          <p:cNvSpPr/>
          <p:nvPr/>
        </p:nvSpPr>
        <p:spPr>
          <a:xfrm>
            <a:off x="507492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not always optimal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3712464"/>
            <a:ext cx="3794760" cy="658368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31" name="Text 29"/>
          <p:cNvSpPr/>
          <p:nvPr/>
        </p:nvSpPr>
        <p:spPr>
          <a:xfrm>
            <a:off x="507492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once, scan once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321040" cy="38404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34" name="Text 32"/>
          <p:cNvSpPr/>
          <p:nvPr/>
        </p:nvSpPr>
        <p:spPr>
          <a:xfrm>
            <a:off x="594360" y="46634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 n=30: Brute Force examines ~1 billion subsets · Greedy examines just 30 elements after sorting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Sample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4023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Parameters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749040" cy="530352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7" name="Text 5"/>
          <p:cNvSpPr/>
          <p:nvPr/>
        </p:nvSpPr>
        <p:spPr>
          <a:xfrm>
            <a:off x="640080" y="15179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517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 in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3749040" cy="530352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0" name="Text 8"/>
          <p:cNvSpPr/>
          <p:nvPr/>
        </p:nvSpPr>
        <p:spPr>
          <a:xfrm>
            <a:off x="640080" y="21396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2139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possible element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3749040" cy="530352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761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possible element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3749040" cy="530352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target_ratio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sum → target 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3749040" cy="530352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random generation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40233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54864" cy="4023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3" name="Text 21"/>
          <p:cNvSpPr/>
          <p:nvPr/>
        </p:nvSpPr>
        <p:spPr>
          <a:xfrm>
            <a:off x="484632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Generated Instance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719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n=6, min=1, max=20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target_ratio=0.5, seed=42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377440"/>
            <a:ext cx="3657600" cy="36576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7" name="Text 25"/>
          <p:cNvSpPr/>
          <p:nvPr/>
        </p:nvSpPr>
        <p:spPr>
          <a:xfrm>
            <a:off x="4846320" y="2496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set: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798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{4, 1, 9, 8, 8, 5}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sum = 35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⌊35 × 0.5⌋ = 17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41330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subset of S summing to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Performance Testing Results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2296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822960"/>
            <a:ext cx="2743200" cy="10058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5" name="Shape 2"/>
          <p:cNvSpPr/>
          <p:nvPr/>
        </p:nvSpPr>
        <p:spPr>
          <a:xfrm>
            <a:off x="6035040" y="822960"/>
            <a:ext cx="27432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" name="Text 3"/>
          <p:cNvSpPr/>
          <p:nvPr/>
        </p:nvSpPr>
        <p:spPr>
          <a:xfrm>
            <a:off x="617220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7220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0.000011s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35040" y="2011680"/>
            <a:ext cx="2743200" cy="10058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9" name="Shape 6"/>
          <p:cNvSpPr/>
          <p:nvPr/>
        </p:nvSpPr>
        <p:spPr>
          <a:xfrm>
            <a:off x="6035040" y="2011680"/>
            <a:ext cx="2743200" cy="73152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0" name="Text 7"/>
          <p:cNvSpPr/>
          <p:nvPr/>
        </p:nvSpPr>
        <p:spPr>
          <a:xfrm>
            <a:off x="617220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n=1,600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7220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0.000800s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035040" y="3200400"/>
            <a:ext cx="2743200" cy="10058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3" name="Shape 10"/>
          <p:cNvSpPr/>
          <p:nvPr/>
        </p:nvSpPr>
        <p:spPr>
          <a:xfrm>
            <a:off x="6035040" y="320040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4" name="Text 11"/>
          <p:cNvSpPr/>
          <p:nvPr/>
        </p:nvSpPr>
        <p:spPr>
          <a:xfrm>
            <a:off x="617220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n=10,000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7220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0.005763s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7" name="Text 14"/>
          <p:cNvSpPr/>
          <p:nvPr/>
        </p:nvSpPr>
        <p:spPr>
          <a:xfrm>
            <a:off x="548640" y="44988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b/a values &lt; 0.1 → 90% confidence intervals are narrow enough ✓   |   Fitted: Time ≈ 4.4×10⁻⁸ × n·log₂(n) − 9.65×10⁻⁶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Quality Testing — How Good is Greedy?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229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822960"/>
            <a:ext cx="2926080" cy="356616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5" name="Shape 2"/>
          <p:cNvSpPr/>
          <p:nvPr/>
        </p:nvSpPr>
        <p:spPr>
          <a:xfrm>
            <a:off x="5852160" y="822960"/>
            <a:ext cx="54864" cy="356616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" name="Text 3"/>
          <p:cNvSpPr/>
          <p:nvPr/>
        </p:nvSpPr>
        <p:spPr>
          <a:xfrm>
            <a:off x="603504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Mean quality ratio always above 0.968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Ratio improves with larger 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Best: 0.9969 at n=18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3246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Worst: 0.9682 at n=6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Mean % gap &lt; 3% for all 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 dirty="0"/>
          </a:p>
        </p:txBody>
      </p:sp>
      <p:sp>
        <p:nvSpPr>
          <p:cNvPr id="13" name="Text 10"/>
          <p:cNvSpPr/>
          <p:nvPr/>
        </p:nvSpPr>
        <p:spPr>
          <a:xfrm>
            <a:off x="548640" y="4625340"/>
            <a:ext cx="8046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Ratio = Greedy Sum ÷ Brute Force Optimal Sum    (1.0 = perfect match)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cs typeface="Calibri" pitchFamily="34" charset="-120"/>
              </a:rPr>
              <a:t>No formal ratio bound is claimed. Greedy is evaluated empirically against brute force.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Functional Testing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743200" cy="1463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based on expected behavior. No access to code. Inputs designed from problem specification.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822960"/>
            <a:ext cx="2743200" cy="1463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8" name="Shape 6"/>
          <p:cNvSpPr/>
          <p:nvPr/>
        </p:nvSpPr>
        <p:spPr>
          <a:xfrm>
            <a:off x="3337560" y="822960"/>
            <a:ext cx="2743200" cy="73152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" name="Text 7"/>
          <p:cNvSpPr/>
          <p:nvPr/>
        </p:nvSpPr>
        <p:spPr>
          <a:xfrm>
            <a:off x="3474720" y="950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3533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Code-aware tests targeting specific branches: add/skip decisions, exact match, non-optimal paths.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822960"/>
            <a:ext cx="2743200" cy="14630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2" name="Shape 10"/>
          <p:cNvSpPr/>
          <p:nvPr/>
        </p:nvSpPr>
        <p:spPr>
          <a:xfrm>
            <a:off x="6309360" y="82296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3" name="Text 11"/>
          <p:cNvSpPr/>
          <p:nvPr/>
        </p:nvSpPr>
        <p:spPr>
          <a:xfrm>
            <a:off x="6446520" y="950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Classes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3533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groups: exact solutions, no-exact, duplicates, single element, all-elements-too-large.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8412480" cy="246888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6" name="Text 14"/>
          <p:cNvSpPr/>
          <p:nvPr/>
        </p:nvSpPr>
        <p:spPr>
          <a:xfrm>
            <a:off x="548640" y="2487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All 12 Tests Passed ✅ </a:t>
            </a: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cs typeface="Calibri" pitchFamily="34" charset="-120"/>
              </a:rPr>
              <a:t>greedy always returned a valid subset with sum ≤ T.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1645920" cy="301752"/>
          </a:xfrm>
          <a:prstGeom prst="rect">
            <a:avLst/>
          </a:prstGeom>
          <a:solidFill>
            <a:srgbClr val="1A2540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2907792"/>
            <a:ext cx="1463040" cy="301752"/>
          </a:xfrm>
          <a:prstGeom prst="rect">
            <a:avLst/>
          </a:prstGeom>
          <a:solidFill>
            <a:srgbClr val="1A2540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0" name="Text 18"/>
          <p:cNvSpPr/>
          <p:nvPr/>
        </p:nvSpPr>
        <p:spPr>
          <a:xfrm>
            <a:off x="2194560" y="292608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39312" y="2907792"/>
            <a:ext cx="731520" cy="301752"/>
          </a:xfrm>
          <a:prstGeom prst="rect">
            <a:avLst/>
          </a:prstGeom>
          <a:solidFill>
            <a:srgbClr val="1A2540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2" name="Text 20"/>
          <p:cNvSpPr/>
          <p:nvPr/>
        </p:nvSpPr>
        <p:spPr>
          <a:xfrm>
            <a:off x="3685032" y="2926080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07408" y="2907792"/>
            <a:ext cx="1005840" cy="301752"/>
          </a:xfrm>
          <a:prstGeom prst="rect">
            <a:avLst/>
          </a:prstGeom>
          <a:solidFill>
            <a:srgbClr val="1A2540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4" name="Text 22"/>
          <p:cNvSpPr/>
          <p:nvPr/>
        </p:nvSpPr>
        <p:spPr>
          <a:xfrm>
            <a:off x="4453128" y="292608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Result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58968" y="2907792"/>
            <a:ext cx="1097280" cy="301752"/>
          </a:xfrm>
          <a:prstGeom prst="rect">
            <a:avLst/>
          </a:prstGeom>
          <a:solidFill>
            <a:srgbClr val="1A2540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6" name="Text 24"/>
          <p:cNvSpPr/>
          <p:nvPr/>
        </p:nvSpPr>
        <p:spPr>
          <a:xfrm>
            <a:off x="5504688" y="292608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Valid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01968" y="2907792"/>
            <a:ext cx="640080" cy="301752"/>
          </a:xfrm>
          <a:prstGeom prst="rect">
            <a:avLst/>
          </a:prstGeom>
          <a:solidFill>
            <a:srgbClr val="1A2540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8" name="Text 26"/>
          <p:cNvSpPr/>
          <p:nvPr/>
        </p:nvSpPr>
        <p:spPr>
          <a:xfrm>
            <a:off x="6647688" y="292608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09544"/>
            <a:ext cx="164592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0" name="Text 28"/>
          <p:cNvSpPr/>
          <p:nvPr/>
        </p:nvSpPr>
        <p:spPr>
          <a:xfrm>
            <a:off x="502920" y="322783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48840" y="3209544"/>
            <a:ext cx="146304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2" name="Text 30"/>
          <p:cNvSpPr/>
          <p:nvPr/>
        </p:nvSpPr>
        <p:spPr>
          <a:xfrm>
            <a:off x="2194560" y="322783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5, 7]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39312" y="3209544"/>
            <a:ext cx="73152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4" name="Text 32"/>
          <p:cNvSpPr/>
          <p:nvPr/>
        </p:nvSpPr>
        <p:spPr>
          <a:xfrm>
            <a:off x="3685032" y="322783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07408" y="3218011"/>
            <a:ext cx="100584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6" name="Text 34"/>
          <p:cNvSpPr/>
          <p:nvPr/>
        </p:nvSpPr>
        <p:spPr>
          <a:xfrm>
            <a:off x="4453128" y="32278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58968" y="3209544"/>
            <a:ext cx="109728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8" name="Text 36"/>
          <p:cNvSpPr/>
          <p:nvPr/>
        </p:nvSpPr>
        <p:spPr>
          <a:xfrm>
            <a:off x="5504688" y="322783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01968" y="3209544"/>
            <a:ext cx="64008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0" name="Text 38"/>
          <p:cNvSpPr/>
          <p:nvPr/>
        </p:nvSpPr>
        <p:spPr>
          <a:xfrm>
            <a:off x="6647688" y="3227832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511296"/>
            <a:ext cx="164592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2" name="Text 40"/>
          <p:cNvSpPr/>
          <p:nvPr/>
        </p:nvSpPr>
        <p:spPr>
          <a:xfrm>
            <a:off x="502920" y="3529584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= target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48840" y="3511296"/>
            <a:ext cx="146304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4" name="Text 42"/>
          <p:cNvSpPr/>
          <p:nvPr/>
        </p:nvSpPr>
        <p:spPr>
          <a:xfrm>
            <a:off x="2194560" y="352958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39312" y="3511296"/>
            <a:ext cx="73152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6" name="Text 44"/>
          <p:cNvSpPr/>
          <p:nvPr/>
        </p:nvSpPr>
        <p:spPr>
          <a:xfrm>
            <a:off x="3685032" y="3529584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07408" y="3511296"/>
            <a:ext cx="100584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8" name="Text 46"/>
          <p:cNvSpPr/>
          <p:nvPr/>
        </p:nvSpPr>
        <p:spPr>
          <a:xfrm>
            <a:off x="4453128" y="352958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58968" y="3511296"/>
            <a:ext cx="109728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0" name="Text 48"/>
          <p:cNvSpPr/>
          <p:nvPr/>
        </p:nvSpPr>
        <p:spPr>
          <a:xfrm>
            <a:off x="5504688" y="352958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01968" y="3511296"/>
            <a:ext cx="64008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2" name="Text 50"/>
          <p:cNvSpPr/>
          <p:nvPr/>
        </p:nvSpPr>
        <p:spPr>
          <a:xfrm>
            <a:off x="6647688" y="3529584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813048"/>
            <a:ext cx="164592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4" name="Text 52"/>
          <p:cNvSpPr/>
          <p:nvPr/>
        </p:nvSpPr>
        <p:spPr>
          <a:xfrm>
            <a:off x="502920" y="3831336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subset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48840" y="3813048"/>
            <a:ext cx="146304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6" name="Text 54"/>
          <p:cNvSpPr/>
          <p:nvPr/>
        </p:nvSpPr>
        <p:spPr>
          <a:xfrm>
            <a:off x="2194560" y="383133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[3,5,7,10]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39312" y="3813048"/>
            <a:ext cx="73152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58" name="Text 56"/>
          <p:cNvSpPr/>
          <p:nvPr/>
        </p:nvSpPr>
        <p:spPr>
          <a:xfrm>
            <a:off x="3685032" y="383133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407408" y="3813048"/>
            <a:ext cx="100584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0" name="Text 58"/>
          <p:cNvSpPr/>
          <p:nvPr/>
        </p:nvSpPr>
        <p:spPr>
          <a:xfrm>
            <a:off x="4453128" y="383133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58968" y="3813048"/>
            <a:ext cx="109728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2" name="Text 60"/>
          <p:cNvSpPr/>
          <p:nvPr/>
        </p:nvSpPr>
        <p:spPr>
          <a:xfrm>
            <a:off x="5504688" y="383133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01968" y="3813048"/>
            <a:ext cx="64008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4" name="Text 62"/>
          <p:cNvSpPr/>
          <p:nvPr/>
        </p:nvSpPr>
        <p:spPr>
          <a:xfrm>
            <a:off x="6647688" y="3831336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4114800"/>
            <a:ext cx="164592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6" name="Text 64"/>
          <p:cNvSpPr/>
          <p:nvPr/>
        </p:nvSpPr>
        <p:spPr>
          <a:xfrm>
            <a:off x="502920" y="4133088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subset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48840" y="4114800"/>
            <a:ext cx="146304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8" name="Text 66"/>
          <p:cNvSpPr/>
          <p:nvPr/>
        </p:nvSpPr>
        <p:spPr>
          <a:xfrm>
            <a:off x="2194560" y="413308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[2,6,8,13]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39312" y="4114800"/>
            <a:ext cx="73152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70" name="Text 68"/>
          <p:cNvSpPr/>
          <p:nvPr/>
        </p:nvSpPr>
        <p:spPr>
          <a:xfrm>
            <a:off x="3685032" y="4133088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407408" y="4114800"/>
            <a:ext cx="100584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72" name="Text 70"/>
          <p:cNvSpPr/>
          <p:nvPr/>
        </p:nvSpPr>
        <p:spPr>
          <a:xfrm>
            <a:off x="4453128" y="4133088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58968" y="4114800"/>
            <a:ext cx="109728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74" name="Text 72"/>
          <p:cNvSpPr/>
          <p:nvPr/>
        </p:nvSpPr>
        <p:spPr>
          <a:xfrm>
            <a:off x="5504688" y="413308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01968" y="4114800"/>
            <a:ext cx="64008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76" name="Text 74"/>
          <p:cNvSpPr/>
          <p:nvPr/>
        </p:nvSpPr>
        <p:spPr>
          <a:xfrm>
            <a:off x="6647688" y="4133088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416552"/>
            <a:ext cx="164592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78" name="Text 76"/>
          <p:cNvSpPr/>
          <p:nvPr/>
        </p:nvSpPr>
        <p:spPr>
          <a:xfrm>
            <a:off x="502920" y="4434840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&gt; target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148840" y="4416552"/>
            <a:ext cx="146304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0" name="Text 78"/>
          <p:cNvSpPr/>
          <p:nvPr/>
        </p:nvSpPr>
        <p:spPr>
          <a:xfrm>
            <a:off x="2194560" y="443484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[20,30,40]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639312" y="4416552"/>
            <a:ext cx="73152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2" name="Text 80"/>
          <p:cNvSpPr/>
          <p:nvPr/>
        </p:nvSpPr>
        <p:spPr>
          <a:xfrm>
            <a:off x="3685032" y="4434840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407408" y="4416552"/>
            <a:ext cx="100584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4" name="Text 82"/>
          <p:cNvSpPr/>
          <p:nvPr/>
        </p:nvSpPr>
        <p:spPr>
          <a:xfrm>
            <a:off x="4453128" y="443484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458968" y="4416552"/>
            <a:ext cx="109728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6" name="Text 84"/>
          <p:cNvSpPr/>
          <p:nvPr/>
        </p:nvSpPr>
        <p:spPr>
          <a:xfrm>
            <a:off x="5504688" y="443484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601968" y="4416552"/>
            <a:ext cx="640080" cy="301752"/>
          </a:xfrm>
          <a:prstGeom prst="rect">
            <a:avLst/>
          </a:prstGeom>
          <a:solidFill>
            <a:srgbClr val="0F1626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8" name="Text 86"/>
          <p:cNvSpPr/>
          <p:nvPr/>
        </p:nvSpPr>
        <p:spPr>
          <a:xfrm>
            <a:off x="6647688" y="4434840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57200" y="4718304"/>
            <a:ext cx="164592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0" name="Text 88"/>
          <p:cNvSpPr/>
          <p:nvPr/>
        </p:nvSpPr>
        <p:spPr>
          <a:xfrm>
            <a:off x="502920" y="473659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misses opt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148840" y="4718304"/>
            <a:ext cx="146304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2" name="Text 90"/>
          <p:cNvSpPr/>
          <p:nvPr/>
        </p:nvSpPr>
        <p:spPr>
          <a:xfrm>
            <a:off x="2194560" y="473659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[10,9,6,5]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639312" y="4718304"/>
            <a:ext cx="73152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4" name="Text 92"/>
          <p:cNvSpPr/>
          <p:nvPr/>
        </p:nvSpPr>
        <p:spPr>
          <a:xfrm>
            <a:off x="3685032" y="473659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407408" y="4718304"/>
            <a:ext cx="100584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6" name="Text 94"/>
          <p:cNvSpPr/>
          <p:nvPr/>
        </p:nvSpPr>
        <p:spPr>
          <a:xfrm>
            <a:off x="4453128" y="473659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458968" y="4718304"/>
            <a:ext cx="109728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98" name="Text 96"/>
          <p:cNvSpPr/>
          <p:nvPr/>
        </p:nvSpPr>
        <p:spPr>
          <a:xfrm>
            <a:off x="5504688" y="473659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(=10)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601968" y="4718304"/>
            <a:ext cx="640080" cy="301752"/>
          </a:xfrm>
          <a:prstGeom prst="rect">
            <a:avLst/>
          </a:prstGeom>
          <a:solidFill>
            <a:srgbClr val="1E2D4A"/>
          </a:solidFill>
          <a:ln w="635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00" name="Text 98"/>
          <p:cNvSpPr/>
          <p:nvPr/>
        </p:nvSpPr>
        <p:spPr>
          <a:xfrm>
            <a:off x="6647688" y="4736592"/>
            <a:ext cx="548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Discussion &amp; Tradeoffs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229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822960"/>
            <a:ext cx="2926080" cy="320040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5" name="Shape 2"/>
          <p:cNvSpPr/>
          <p:nvPr/>
        </p:nvSpPr>
        <p:spPr>
          <a:xfrm>
            <a:off x="5852160" y="822960"/>
            <a:ext cx="54864" cy="3200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" name="Text 3"/>
          <p:cNvSpPr/>
          <p:nvPr/>
        </p:nvSpPr>
        <p:spPr>
          <a:xfrm>
            <a:off x="603504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463040"/>
            <a:ext cx="2651760" cy="54864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8" name="Text 5"/>
          <p:cNvSpPr/>
          <p:nvPr/>
        </p:nvSpPr>
        <p:spPr>
          <a:xfrm>
            <a:off x="6126480" y="15179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Theory matches experiment: Θ(n log n) confirmed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2103120"/>
            <a:ext cx="2651760" cy="54864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0" name="Text 7"/>
          <p:cNvSpPr/>
          <p:nvPr/>
        </p:nvSpPr>
        <p:spPr>
          <a:xfrm>
            <a:off x="6126480" y="215798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Greedy quality improves as n grows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743200"/>
            <a:ext cx="2651760" cy="54864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2" name="Text 9"/>
          <p:cNvSpPr/>
          <p:nvPr/>
        </p:nvSpPr>
        <p:spPr>
          <a:xfrm>
            <a:off x="6126480" y="27980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All 12 functional tests passed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383280"/>
            <a:ext cx="2651760" cy="548640"/>
          </a:xfrm>
          <a:prstGeom prst="rect">
            <a:avLst/>
          </a:prstGeom>
          <a:solidFill>
            <a:srgbClr val="0F1626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4" name="Text 11"/>
          <p:cNvSpPr/>
          <p:nvPr/>
        </p:nvSpPr>
        <p:spPr>
          <a:xfrm>
            <a:off x="6126480" y="343814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Greedy is practical for large n where BF fails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6" name="Shape 13"/>
          <p:cNvSpPr/>
          <p:nvPr/>
        </p:nvSpPr>
        <p:spPr>
          <a:xfrm>
            <a:off x="365760" y="4160520"/>
            <a:ext cx="54864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7" name="Text 14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Brute Force  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 is small and exact optimality is required.    </a:t>
            </a:r>
            <a:r>
              <a:rPr lang="en-US" sz="120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Greedy  </a:t>
            </a: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 is large and a fast, near-optimal answer is acceptable.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lin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line">
            <a:avLst/>
          </a:prstGeom>
          <a:solidFill>
            <a:srgbClr val="845EC2">
              <a:alpha val="10000"/>
            </a:srgbClr>
          </a:solidFill>
          <a:ln w="12700">
            <a:solidFill>
              <a:srgbClr val="845EC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2004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321040" cy="676656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384048" cy="384048"/>
          </a:xfrm>
          <a:prstGeom prst="lin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8" name="Text 6"/>
          <p:cNvSpPr/>
          <p:nvPr/>
        </p:nvSpPr>
        <p:spPr>
          <a:xfrm>
            <a:off x="566928" y="108813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24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Sum is NP-Complete — exact solutions require exponential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8321040" cy="676656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1" name="Shape 9"/>
          <p:cNvSpPr/>
          <p:nvPr/>
        </p:nvSpPr>
        <p:spPr>
          <a:xfrm>
            <a:off x="566928" y="1883664"/>
            <a:ext cx="384048" cy="384048"/>
          </a:xfrm>
          <a:prstGeom prst="lin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2" name="Text 10"/>
          <p:cNvSpPr/>
          <p:nvPr/>
        </p:nvSpPr>
        <p:spPr>
          <a:xfrm>
            <a:off x="566928" y="18562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1892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is optimal but impractical for n &gt; ~25 due to 2ⁿ growth.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8321040" cy="676656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5" name="Shape 13"/>
          <p:cNvSpPr/>
          <p:nvPr/>
        </p:nvSpPr>
        <p:spPr>
          <a:xfrm>
            <a:off x="566928" y="2651760"/>
            <a:ext cx="384048" cy="384048"/>
          </a:xfrm>
          <a:prstGeom prst="lin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16" name="Text 14"/>
          <p:cNvSpPr/>
          <p:nvPr/>
        </p:nvSpPr>
        <p:spPr>
          <a:xfrm>
            <a:off x="566928" y="26243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6609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 runs in Θ(n log n) — confirmed by experiments up to n=10,000.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8321040" cy="676656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384048" cy="384048"/>
          </a:xfrm>
          <a:prstGeom prst="lin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0" name="Text 18"/>
          <p:cNvSpPr/>
          <p:nvPr/>
        </p:nvSpPr>
        <p:spPr>
          <a:xfrm>
            <a:off x="566928" y="339242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ratios above 0.968 for all tested sizes — greedy is near-optimal in practice.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23944"/>
            <a:ext cx="8321040" cy="676656"/>
          </a:xfrm>
          <a:prstGeom prst="rect">
            <a:avLst/>
          </a:prstGeom>
          <a:solidFill>
            <a:srgbClr val="1E2D4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JO"/>
          </a:p>
        </p:txBody>
      </p:sp>
      <p:sp>
        <p:nvSpPr>
          <p:cNvPr id="23" name="Shape 21"/>
          <p:cNvSpPr/>
          <p:nvPr/>
        </p:nvSpPr>
        <p:spPr>
          <a:xfrm>
            <a:off x="566928" y="4187952"/>
            <a:ext cx="384048" cy="384048"/>
          </a:xfrm>
          <a:prstGeom prst="lin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JO"/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41970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cs typeface="Calibri" pitchFamily="34" charset="-120"/>
              </a:rPr>
              <a:t>All 12 functional tests passed — brute force returned optimal solutions, while greedy returned valid feasible solutions.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26  ·  CS301  ·  Spring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1228</Words>
  <Application>Microsoft Macintosh PowerPoint</Application>
  <PresentationFormat>On-screen Show (16:9)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CS301 – Subset Sum Problem</dc:title>
  <dc:subject>PptxGenJS Presentation</dc:subject>
  <dc:creator>PptxGenJS</dc:creator>
  <cp:lastModifiedBy>Abdul Momin Alam (Student)</cp:lastModifiedBy>
  <cp:revision>5</cp:revision>
  <dcterms:created xsi:type="dcterms:W3CDTF">2026-05-14T13:58:18Z</dcterms:created>
  <dcterms:modified xsi:type="dcterms:W3CDTF">2026-05-18T18:59:20Z</dcterms:modified>
</cp:coreProperties>
</file>